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679680" y="0"/>
            <a:ext cx="41696640" cy="1645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06880" y="2468880"/>
            <a:ext cx="1706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300" b="0">
                <a:solidFill>
                  <a:srgbClr val="514149"/>
                </a:solidFill>
                <a:latin typeface="Apple SD Gothic Neo"/>
              </a:rPr>
              <a:t>계명대학교 의과대학 임상수기센터 협업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6880" y="3291840"/>
            <a:ext cx="182880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0" b="1">
                <a:solidFill>
                  <a:srgbClr val="2A2A2A"/>
                </a:solidFill>
                <a:latin typeface="Apple SD Gothic Neo"/>
              </a:rPr>
              <a:t>LectureLink CPX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06880" y="5212080"/>
            <a:ext cx="19507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200" b="1">
                <a:solidFill>
                  <a:srgbClr val="2A2A2A"/>
                </a:solidFill>
                <a:latin typeface="Apple SD Gothic Neo"/>
              </a:rPr>
              <a:t>AI 표준화 환자와 혼자 하는</a:t>
            </a:r>
          </a:p>
          <a:p>
            <a:pPr algn="l">
              <a:lnSpc>
                <a:spcPct val="120000"/>
              </a:lnSpc>
            </a:pPr>
            <a:r>
              <a:rPr sz="6200" b="1">
                <a:solidFill>
                  <a:srgbClr val="2A2A2A"/>
                </a:solidFill>
                <a:latin typeface="Apple SD Gothic Neo"/>
              </a:rPr>
              <a:t>진료수행 연습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06880" y="7818120"/>
            <a:ext cx="1243584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06880" y="822960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01440" y="8229600"/>
            <a:ext cx="1706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2A2A2A"/>
                </a:solidFill>
                <a:latin typeface="Apple SD Gothic Neo"/>
              </a:rPr>
              <a:t>렉처링크 개발팀 · 전재현, 장유림 (계명의대 의학과)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6880" y="9079992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1440" y="9079992"/>
            <a:ext cx="1706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2A2A2A"/>
                </a:solidFill>
                <a:latin typeface="Apple SD Gothic Neo"/>
              </a:rPr>
              <a:t>CPX 콘텐츠 의학 검수 · 공동연구 · 정식 협약 논의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6880" y="9930384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1440" y="9930384"/>
            <a:ext cx="17068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2A2A2A"/>
                </a:solidFill>
                <a:latin typeface="Apple SD Gothic Neo"/>
              </a:rPr>
              <a:t>상세 문서 별첨 (인쇄본) · lecturelink.kro.kr</a:t>
            </a:r>
          </a:p>
        </p:txBody>
      </p:sp>
      <p:pic>
        <p:nvPicPr>
          <p:cNvPr id="13" name="Picture 1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0" y="9601200"/>
            <a:ext cx="6096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학생 한 명이 혼자, 12분 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실제 CPX와 같은 흐름 —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문진 · 신체진찰 · 환자교육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 후 즉시 채점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4800600"/>
            <a:ext cx="6705600" cy="7132320"/>
          </a:xfrm>
          <a:prstGeom prst="rect">
            <a:avLst/>
          </a:prstGeom>
          <a:solidFill>
            <a:srgbClr val="F1ECE8"/>
          </a:solidFill>
          <a:ln w="15240">
            <a:solidFill>
              <a:srgbClr val="B9B0A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800600"/>
            <a:ext cx="670560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화면 캡처 ①</a:t>
            </a:r>
          </a:p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음성 문진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4800600"/>
            <a:ext cx="6705600" cy="7132320"/>
          </a:xfrm>
          <a:prstGeom prst="rect">
            <a:avLst/>
          </a:prstGeom>
          <a:solidFill>
            <a:srgbClr val="F1ECE8"/>
          </a:solidFill>
          <a:ln w="15240">
            <a:solidFill>
              <a:srgbClr val="B9B0A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4800600"/>
            <a:ext cx="670560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화면 캡처 ②</a:t>
            </a:r>
          </a:p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부위별 신체진찰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93440" y="4800600"/>
            <a:ext cx="6705600" cy="7132320"/>
          </a:xfrm>
          <a:prstGeom prst="rect">
            <a:avLst/>
          </a:prstGeom>
          <a:solidFill>
            <a:srgbClr val="F1ECE8"/>
          </a:solidFill>
          <a:ln w="15240">
            <a:solidFill>
              <a:srgbClr val="B9B0A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93440" y="4800600"/>
            <a:ext cx="670560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화면 캡처 ③</a:t>
            </a:r>
          </a:p>
          <a:p>
            <a:pPr algn="ctr">
              <a:lnSpc>
                <a:spcPct val="140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채점 결과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국시원 공개 항목표의 주호소 54개 전부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주호소마다 감별진단별 증례를 두어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243개 시나리오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48768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0" b="1">
                <a:solidFill>
                  <a:srgbClr val="2A2A2A"/>
                </a:solidFill>
                <a:latin typeface="Apple SD Gothic Neo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8229600"/>
            <a:ext cx="487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514149"/>
                </a:solidFill>
                <a:latin typeface="Apple SD Gothic Neo"/>
              </a:rPr>
              <a:t>주호소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27520" y="5760720"/>
            <a:ext cx="48768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0" b="1">
                <a:solidFill>
                  <a:srgbClr val="2A2A2A"/>
                </a:solidFill>
                <a:latin typeface="Apple SD Gothic Neo"/>
              </a:rPr>
              <a:t>243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27520" y="8229600"/>
            <a:ext cx="487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514149"/>
                </a:solidFill>
                <a:latin typeface="Apple SD Gothic Neo"/>
              </a:rPr>
              <a:t>증례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79680" y="5212080"/>
            <a:ext cx="1048512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514149"/>
                </a:solidFill>
                <a:latin typeface="Apple SD Gothic Neo"/>
              </a:rPr>
              <a:t>수면장애 16 · 두통 8 · 가슴 통증 7 · 급성 복통 6 …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예: 가슴 통증 →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급성심근경색 · 대동맥박리 · 기흉 · 폐색전 ·</a:t>
            </a:r>
          </a:p>
          <a:p>
            <a:pPr algn="l">
              <a:lnSpc>
                <a:spcPct val="135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안정협심증 · 역류성식도염 · 늑연골염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채점표는 실제 CPX 배점 구조를 따릅니다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체크리스트 70 + 환자의사관계 30 · 항목마다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대화 근거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를 붙여 판정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5074920"/>
            <a:ext cx="4876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병력청취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5829300"/>
            <a:ext cx="8290560" cy="438912"/>
          </a:xfrm>
          <a:prstGeom prst="rect">
            <a:avLst/>
          </a:prstGeom>
          <a:solidFill>
            <a:srgbClr val="D6F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5829300"/>
            <a:ext cx="7876031" cy="438912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97440" y="5074920"/>
            <a:ext cx="1463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400" b="1">
                <a:solidFill>
                  <a:srgbClr val="2A2A2A"/>
                </a:solidFill>
                <a:latin typeface="Apple SD Gothic Neo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789420"/>
            <a:ext cx="4876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신체진찰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7543800"/>
            <a:ext cx="8290560" cy="438912"/>
          </a:xfrm>
          <a:prstGeom prst="rect">
            <a:avLst/>
          </a:prstGeom>
          <a:solidFill>
            <a:srgbClr val="D6F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63040" y="7543800"/>
            <a:ext cx="3316224" cy="438912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97440" y="6789420"/>
            <a:ext cx="1463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400" b="1">
                <a:solidFill>
                  <a:srgbClr val="2A2A2A"/>
                </a:solidFill>
                <a:latin typeface="Apple SD Gothic Neo"/>
              </a:rPr>
              <a:t>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8503920"/>
            <a:ext cx="4876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환자교육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9258300"/>
            <a:ext cx="8290560" cy="438912"/>
          </a:xfrm>
          <a:prstGeom prst="rect">
            <a:avLst/>
          </a:prstGeom>
          <a:solidFill>
            <a:srgbClr val="D6F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63040" y="9258300"/>
            <a:ext cx="3316224" cy="438912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97440" y="8503920"/>
            <a:ext cx="1463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400" b="1">
                <a:solidFill>
                  <a:srgbClr val="2A2A2A"/>
                </a:solidFill>
                <a:latin typeface="Apple SD Gothic Neo"/>
              </a:rPr>
              <a:t>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10218420"/>
            <a:ext cx="4876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2A2A2A"/>
                </a:solidFill>
                <a:latin typeface="Apple SD Gothic Neo"/>
              </a:rPr>
              <a:t>환자의사관계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10972800"/>
            <a:ext cx="8290560" cy="438912"/>
          </a:xfrm>
          <a:prstGeom prst="rect">
            <a:avLst/>
          </a:prstGeom>
          <a:solidFill>
            <a:srgbClr val="D6F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63040" y="10972800"/>
            <a:ext cx="6217920" cy="438912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97440" y="10218420"/>
            <a:ext cx="1463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400" b="1">
                <a:solidFill>
                  <a:srgbClr val="2A2A2A"/>
                </a:solidFill>
                <a:latin typeface="Apple SD Gothic Neo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23520" y="4937760"/>
            <a:ext cx="1024128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판정은 </a:t>
            </a:r>
            <a:r>
              <a:rPr sz="3600" b="1">
                <a:solidFill>
                  <a:srgbClr val="514149"/>
                </a:solidFill>
                <a:latin typeface="Apple SD Gothic Neo"/>
              </a:rPr>
              <a:t>충족 · 부분 · 미충족</a:t>
            </a:r>
            <a:r>
              <a:rPr sz="3600" b="0">
                <a:solidFill>
                  <a:srgbClr val="514149"/>
                </a:solidFill>
                <a:latin typeface="Apple SD Gothic Neo"/>
              </a:rPr>
              <a:t> 세 단계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“청진을 해보겠습니다” → 시행으로 인정</a:t>
            </a:r>
          </a:p>
          <a:p>
            <a:pPr algn="l">
              <a:lnSpc>
                <a:spcPct val="140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단어가 달라도 문맥이 같으면 인정</a:t>
            </a:r>
          </a:p>
          <a:p>
            <a:pPr algn="l">
              <a:lnSpc>
                <a:spcPct val="140000"/>
              </a:lnSpc>
            </a:pPr>
            <a:r>
              <a:rPr sz="2800" b="0">
                <a:solidFill>
                  <a:srgbClr val="7A7176"/>
                </a:solidFill>
                <a:latin typeface="Apple SD Gothic Neo"/>
              </a:rPr>
              <a:t>점수 계산은 AI가 아니라 정해진 규칙이 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환자는 묻는 것에만 답합니다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표준화 환자 교육 원칙을 그대로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행동 규칙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으로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06880" y="5760720"/>
            <a:ext cx="1072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▶ 진단명·핵심 단서를 먼저 말하지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23520" y="5760720"/>
            <a:ext cx="1072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▶ 민감한 질문엔 이유를 들어야 협조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6880" y="8503920"/>
            <a:ext cx="1072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▶ 진찰 요청 시 행동 반응 → 소견은 객관 자료로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23520" y="8503920"/>
            <a:ext cx="1072896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>
                <a:solidFill>
                  <a:srgbClr val="514149"/>
                </a:solidFill>
                <a:latin typeface="Apple SD Gothic Neo"/>
              </a:rPr>
              <a:t>▶ 같은 증례라도 이름·성별·직업은 매번 달라짐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같은 수행에는 같은 점수가 나옵니다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동일 대화 기록 10회 재채점 —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일관성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은 확인했습니다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53440" y="4251960"/>
            <a:ext cx="22677120" cy="822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06880" y="5486400"/>
            <a:ext cx="53644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514149"/>
                </a:solidFill>
                <a:latin typeface="Apple SD Gothic Neo"/>
              </a:rPr>
              <a:t>항목 판정 일치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1360" y="5486400"/>
            <a:ext cx="5852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32항목 중 31개 동일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06880" y="6789420"/>
            <a:ext cx="11216640" cy="0"/>
          </a:xfrm>
          <a:prstGeom prst="line">
            <a:avLst/>
          </a:prstGeom>
          <a:ln w="9525">
            <a:solidFill>
              <a:srgbClr val="E4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706880" y="7269480"/>
            <a:ext cx="53644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514149"/>
                </a:solidFill>
                <a:latin typeface="Apple SD Gothic Neo"/>
              </a:rPr>
              <a:t>총점 편차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1360" y="7269480"/>
            <a:ext cx="5852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±0.75점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06880" y="8572500"/>
            <a:ext cx="11216640" cy="0"/>
          </a:xfrm>
          <a:prstGeom prst="line">
            <a:avLst/>
          </a:prstGeom>
          <a:ln w="9525">
            <a:solidFill>
              <a:srgbClr val="E4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06880" y="9052560"/>
            <a:ext cx="53644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514149"/>
                </a:solidFill>
                <a:latin typeface="Apple SD Gothic Neo"/>
              </a:rPr>
              <a:t>채점표 형식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1360" y="9052560"/>
            <a:ext cx="5852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0건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706880" y="10355580"/>
            <a:ext cx="11216640" cy="0"/>
          </a:xfrm>
          <a:prstGeom prst="line">
            <a:avLst/>
          </a:prstGeom>
          <a:ln w="9525">
            <a:solidFill>
              <a:srgbClr val="E4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4142720" y="4937760"/>
            <a:ext cx="9022080" cy="7132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E0312D"/>
                </a:solidFill>
                <a:latin typeface="Apple SD Gothic Neo"/>
              </a:rPr>
              <a:t>일관성</a:t>
            </a:r>
            <a:r>
              <a:rPr sz="4400" b="0">
                <a:solidFill>
                  <a:srgbClr val="514149"/>
                </a:solidFill>
                <a:latin typeface="Apple SD Gothic Neo"/>
              </a:rPr>
              <a:t>입니다.</a:t>
            </a:r>
          </a:p>
          <a:p>
            <a:pPr algn="ctr">
              <a:lnSpc>
                <a:spcPct val="140000"/>
              </a:lnSpc>
            </a:pPr>
            <a:r>
              <a:rPr sz="4400" b="1">
                <a:solidFill>
                  <a:srgbClr val="514149"/>
                </a:solidFill>
                <a:latin typeface="Apple SD Gothic Neo"/>
              </a:rPr>
              <a:t>정확성</a:t>
            </a:r>
            <a:r>
              <a:rPr sz="4400" b="0">
                <a:solidFill>
                  <a:srgbClr val="514149"/>
                </a:solidFill>
                <a:latin typeface="Apple SD Gothic Neo"/>
              </a:rPr>
              <a:t>은 아직 아닙니다.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679680" y="0"/>
            <a:ext cx="41696640" cy="16459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6858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93440" y="6858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261871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19200" y="4114800"/>
            <a:ext cx="3413760" cy="548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0" b="1">
                <a:solidFill>
                  <a:srgbClr val="2A2A2A"/>
                </a:solidFill>
                <a:latin typeface="Apple SD Gothic Neo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0" y="4526280"/>
            <a:ext cx="1828800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>
                <a:solidFill>
                  <a:srgbClr val="2A2A2A"/>
                </a:solidFill>
                <a:latin typeface="Apple SD Gothic Neo"/>
              </a:rPr>
              <a:t>임상적으로 맞는가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800" y="6583680"/>
            <a:ext cx="182880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5000" b="1">
                <a:solidFill>
                  <a:srgbClr val="514149"/>
                </a:solidFill>
                <a:latin typeface="Apple SD Gothic Neo"/>
              </a:rPr>
              <a:t>▷ 검수를 마친 증례 </a:t>
            </a:r>
            <a:r>
              <a:rPr sz="5000" b="1">
                <a:solidFill>
                  <a:srgbClr val="E0312D"/>
                </a:solidFill>
                <a:latin typeface="Apple SD Gothic Neo"/>
              </a:rPr>
              <a:t>0</a:t>
            </a:r>
            <a:r>
              <a:rPr sz="5000" b="1">
                <a:solidFill>
                  <a:srgbClr val="514149"/>
                </a:solidFill>
                <a:latin typeface="Apple SD Gothic Neo"/>
              </a:rPr>
              <a:t> / 243</a:t>
            </a:r>
          </a:p>
          <a:p>
            <a:pPr algn="l">
              <a:lnSpc>
                <a:spcPct val="130000"/>
              </a:lnSpc>
            </a:pPr>
            <a:r>
              <a:rPr sz="5000" b="1">
                <a:solidFill>
                  <a:srgbClr val="514149"/>
                </a:solidFill>
                <a:latin typeface="Apple SD Gothic Neo"/>
              </a:rPr>
              <a:t>▷ 채점표는 공개 항목표 + 교재 참조 자체 제작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의학 검수를 부탁드립니다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514149"/>
                </a:solidFill>
                <a:latin typeface="Apple SD Gothic Neo"/>
              </a:rPr>
              <a:t>도구와 표본은 저희가 준비하고, </a:t>
            </a:r>
            <a:r>
              <a:rPr sz="5500" b="1">
                <a:solidFill>
                  <a:srgbClr val="1B9E3A"/>
                </a:solidFill>
                <a:latin typeface="Apple SD Gothic Neo"/>
              </a:rPr>
              <a:t>판단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만 맡겨 주십시오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360" y="4526280"/>
            <a:ext cx="5364480" cy="548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360" y="4526280"/>
            <a:ext cx="5364480" cy="219456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5074920"/>
            <a:ext cx="4632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C1 · 최우선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829300"/>
            <a:ext cx="4632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채점표 대조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7680960"/>
            <a:ext cx="4632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14149"/>
                </a:solidFill>
                <a:latin typeface="Apple SD Gothic Neo"/>
              </a:rPr>
              <a:t>자체 채점표 54종을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514149"/>
                </a:solidFill>
                <a:latin typeface="Apple SD Gothic Neo"/>
              </a:rPr>
              <a:t>센터 채점 원칙과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44640" y="4526280"/>
            <a:ext cx="5364480" cy="548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44640" y="4526280"/>
            <a:ext cx="5364480" cy="219456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5074920"/>
            <a:ext cx="4632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C2 · 최우선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829300"/>
            <a:ext cx="4632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증례 정확도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7680960"/>
            <a:ext cx="4632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14149"/>
                </a:solidFill>
                <a:latin typeface="Apple SD Gothic Neo"/>
              </a:rPr>
              <a:t>표본 20~30개의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514149"/>
                </a:solidFill>
                <a:latin typeface="Apple SD Gothic Neo"/>
              </a:rPr>
              <a:t>병력·소견·감별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13920" y="4526280"/>
            <a:ext cx="5364480" cy="548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313920" y="4526280"/>
            <a:ext cx="5364480" cy="219456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0" y="5074920"/>
            <a:ext cx="4632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C3 · 최우선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0" y="5829300"/>
            <a:ext cx="4632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환자 정보 공개 규칙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0" y="7680960"/>
            <a:ext cx="4632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14149"/>
                </a:solidFill>
                <a:latin typeface="Apple SD Gothic Neo"/>
              </a:rPr>
              <a:t>무엇을 먼저, 무엇은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514149"/>
                </a:solidFill>
                <a:latin typeface="Apple SD Gothic Neo"/>
              </a:rPr>
              <a:t>물어야, 무엇은 끝까지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983200" y="4526280"/>
            <a:ext cx="5364480" cy="5486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983200" y="4526280"/>
            <a:ext cx="5364480" cy="219456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470880" y="5074920"/>
            <a:ext cx="4632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7A7176"/>
                </a:solidFill>
                <a:latin typeface="Apple SD Gothic Neo"/>
              </a:rPr>
              <a:t>C4 · 최우선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70880" y="5829300"/>
            <a:ext cx="4632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A2A2A"/>
                </a:solidFill>
                <a:latin typeface="Apple SD Gothic Neo"/>
              </a:rPr>
              <a:t>실제 시험 구현성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470880" y="7680960"/>
            <a:ext cx="4632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514149"/>
                </a:solidFill>
                <a:latin typeface="Apple SD Gothic Neo"/>
              </a:rPr>
              <a:t>세션 시간·화면·장비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514149"/>
                </a:solidFill>
                <a:latin typeface="Apple SD Gothic Neo"/>
              </a:rPr>
              <a:t>운영 흐름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5360" y="10561320"/>
            <a:ext cx="22433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2A2A2A"/>
                </a:solidFill>
                <a:latin typeface="Apple SD Gothic Neo"/>
              </a:rPr>
              <a:t>기준이 정해진 뒤  </a:t>
            </a:r>
            <a:r>
              <a:rPr sz="2600" b="0">
                <a:solidFill>
                  <a:srgbClr val="514149"/>
                </a:solidFill>
                <a:latin typeface="Apple SD Gothic Neo"/>
              </a:rPr>
              <a:t>신체진찰 소견 검수 · 전문가 독립 채점으로 AI 채점 비교 · 학생 파일럿 · 데이터 동의·보관 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360" y="11521440"/>
            <a:ext cx="2243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7A7176"/>
                </a:solidFill>
                <a:latin typeface="Apple SD Gothic Neo"/>
              </a:rPr>
              <a:t>표본 수와 일정은 센터 기준에 맞춥니다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9875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536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LectureLink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655040" y="548640"/>
            <a:ext cx="975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000" b="0">
                <a:solidFill>
                  <a:srgbClr val="514149"/>
                </a:solidFill>
                <a:latin typeface="Apple SD Gothic Neo"/>
              </a:rPr>
              <a:t>전재현, 장유림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75360" y="1179576"/>
            <a:ext cx="22433280" cy="0"/>
          </a:xfrm>
          <a:prstGeom prst="line">
            <a:avLst/>
          </a:prstGeom>
          <a:ln w="12700">
            <a:solidFill>
              <a:srgbClr val="5141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75360" y="1508760"/>
            <a:ext cx="22433280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0" b="1">
                <a:solidFill>
                  <a:srgbClr val="2A2A2A"/>
                </a:solidFill>
                <a:latin typeface="Apple SD Gothic Neo"/>
              </a:rPr>
              <a:t>함께 하고 싶은 연구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948940"/>
            <a:ext cx="2243328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5500" b="1">
                <a:solidFill>
                  <a:srgbClr val="1B9E3A"/>
                </a:solidFill>
                <a:latin typeface="Apple SD Gothic Neo"/>
              </a:rPr>
              <a:t>채점 타당도</a:t>
            </a:r>
            <a:r>
              <a:rPr sz="5500" b="1">
                <a:solidFill>
                  <a:srgbClr val="514149"/>
                </a:solidFill>
                <a:latin typeface="Apple SD Gothic Neo"/>
              </a:rPr>
              <a:t>를 먼저, 학습 효과는 그다음 — 설계와 일정은 함께 정합니다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360" y="4389120"/>
            <a:ext cx="10972800" cy="6309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75360" y="4389120"/>
            <a:ext cx="10972800" cy="219456"/>
          </a:xfrm>
          <a:prstGeom prst="rect">
            <a:avLst/>
          </a:prstGeom>
          <a:solidFill>
            <a:srgbClr val="1B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6880" y="4937760"/>
            <a:ext cx="975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2A2A2A"/>
                </a:solidFill>
                <a:latin typeface="Apple SD Gothic Neo"/>
              </a:rPr>
              <a:t>연구 ①  채점 타당도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6880" y="5829300"/>
            <a:ext cx="975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7A7176"/>
                </a:solidFill>
                <a:latin typeface="Apple SD Gothic Neo"/>
              </a:rPr>
              <a:t>AI 판정과 전문가 판정은 얼마나, 어디서 갈리는가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6880" y="6858000"/>
            <a:ext cx="9753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일치도는 어느 수준인가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불일치는 어떤 항목에 몰리는가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인용한 대화 근거가 실제와 맞는가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재채점해도 같은 결과가 나오는가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435840" y="4389120"/>
            <a:ext cx="10972800" cy="6309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435840" y="4389120"/>
            <a:ext cx="10972800" cy="219456"/>
          </a:xfrm>
          <a:prstGeom prst="rect">
            <a:avLst/>
          </a:prstGeom>
          <a:solidFill>
            <a:srgbClr val="B5E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0" y="4937760"/>
            <a:ext cx="975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2A2A2A"/>
                </a:solidFill>
                <a:latin typeface="Apple SD Gothic Neo"/>
              </a:rPr>
              <a:t>연구 ②  학습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0" y="5829300"/>
            <a:ext cx="9753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7A7176"/>
                </a:solidFill>
                <a:latin typeface="Apple SD Gothic Neo"/>
              </a:rPr>
              <a:t>플랫폼 밖의 준거로 확인하는 학습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0" y="6858000"/>
            <a:ext cx="97536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실습 평가 등 외부 준거로 향상되는가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피드백 방식에 따라 달라지는가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같은 증례 반복과 변형 중 무엇이 낫는가</a:t>
            </a:r>
          </a:p>
          <a:p>
            <a:pPr algn="l">
              <a:lnSpc>
                <a:spcPct val="145000"/>
              </a:lnSpc>
            </a:pPr>
            <a:r>
              <a:rPr sz="2800" b="0">
                <a:solidFill>
                  <a:srgbClr val="514149"/>
                </a:solidFill>
                <a:latin typeface="Apple SD Gothic Neo"/>
              </a:rPr>
              <a:t>▷ 실습 과정에 통합할 수 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60" y="11384280"/>
            <a:ext cx="22433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2A2A2A"/>
                </a:solidFill>
                <a:latin typeface="Apple SD Gothic Neo"/>
              </a:rPr>
              <a:t>저희가 먼저 약속하는 것  </a:t>
            </a:r>
            <a:r>
              <a:rPr sz="2600" b="0">
                <a:solidFill>
                  <a:srgbClr val="514149"/>
                </a:solidFill>
                <a:latin typeface="Apple SD Gothic Neo"/>
              </a:rPr>
              <a:t>부정적 결과도 발표에 동의 · 데이터와 분석 코드 공개 · 분석 계획 사전 등록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